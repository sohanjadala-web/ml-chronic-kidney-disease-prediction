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mansoordaku/ckdisease"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7F2FC"/>
        </a:solidFill>
        <a:effectLst/>
      </p:bgPr>
    </p:bg>
    <p:spTree>
      <p:nvGrpSpPr>
        <p:cNvPr id="1" name=""/>
        <p:cNvGrpSpPr/>
        <p:nvPr/>
      </p:nvGrpSpPr>
      <p:grpSpPr>
        <a:xfrm>
          <a:off x="0" y="0"/>
          <a:ext cx="0" cy="0"/>
          <a:chOff x="0" y="0"/>
          <a:chExt cx="0" cy="0"/>
        </a:xfrm>
      </p:grpSpPr>
      <p:sp>
        <p:nvSpPr>
          <p:cNvPr id="2" name="Oval 1"/>
          <p:cNvSpPr/>
          <p:nvPr/>
        </p:nvSpPr>
        <p:spPr>
          <a:xfrm>
            <a:off x="8961120" y="-548640"/>
            <a:ext cx="3931920" cy="3931920"/>
          </a:xfrm>
          <a:prstGeom prst="ellipse">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784080" y="4480560"/>
            <a:ext cx="2286000" cy="2286000"/>
          </a:xfrm>
          <a:prstGeom prst="ellipse">
            <a:avLst/>
          </a:prstGeom>
          <a:solidFill>
            <a:srgbClr val="2D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43000"/>
            <a:ext cx="8046720" cy="2011680"/>
          </a:xfrm>
          <a:prstGeom prst="rect">
            <a:avLst/>
          </a:prstGeom>
          <a:noFill/>
        </p:spPr>
        <p:txBody>
          <a:bodyPr wrap="square">
            <a:spAutoFit/>
          </a:bodyPr>
          <a:lstStyle/>
          <a:p>
            <a:r>
              <a:rPr sz="3400" b="1">
                <a:solidFill>
                  <a:srgbClr val="14233C"/>
                </a:solidFill>
                <a:latin typeface="Aptos Display"/>
              </a:rPr>
              <a:t>AI-Powered Chronic Kidney Disease
Risk Prediction and Analysis</a:t>
            </a:r>
          </a:p>
        </p:txBody>
      </p:sp>
      <p:sp>
        <p:nvSpPr>
          <p:cNvPr id="5" name="TextBox 4"/>
          <p:cNvSpPr txBox="1"/>
          <p:nvPr/>
        </p:nvSpPr>
        <p:spPr>
          <a:xfrm>
            <a:off x="777240" y="3474720"/>
            <a:ext cx="6858000" cy="1463040"/>
          </a:xfrm>
          <a:prstGeom prst="rect">
            <a:avLst/>
          </a:prstGeom>
          <a:noFill/>
        </p:spPr>
        <p:txBody>
          <a:bodyPr wrap="none">
            <a:spAutoFit/>
          </a:bodyPr>
          <a:lstStyle/>
          <a:p>
            <a:r>
              <a:rPr sz="1800">
                <a:solidFill>
                  <a:srgbClr val="2A70BE"/>
                </a:solidFill>
                <a:latin typeface="Aptos"/>
              </a:rPr>
              <a:t>Machine Learning Project – Abstract Presentation</a:t>
            </a:r>
          </a:p>
          <a:p>
            <a:pPr>
              <a:defRPr sz="1500">
                <a:solidFill>
                  <a:srgbClr val="232B37"/>
                </a:solidFill>
                <a:latin typeface="Aptos"/>
              </a:defRPr>
            </a:pPr>
            <a:r>
              <a:t>Prepared by: J. Sohan (2520080060)  |  J. Sricharan (2520090137)</a:t>
            </a:r>
          </a:p>
          <a:p>
            <a:pPr>
              <a:defRPr sz="1500" b="1">
                <a:solidFill>
                  <a:srgbClr val="232B37"/>
                </a:solidFill>
                <a:latin typeface="Aptos"/>
              </a:defRPr>
            </a:pPr>
            <a:r>
              <a:t>Guide: Ms. Chekuri Anitha, Assistant Professor</a:t>
            </a:r>
          </a:p>
        </p:txBody>
      </p:sp>
      <p:sp>
        <p:nvSpPr>
          <p:cNvPr id="6" name="TextBox 5"/>
          <p:cNvSpPr txBox="1"/>
          <p:nvPr/>
        </p:nvSpPr>
        <p:spPr>
          <a:xfrm>
            <a:off x="777240" y="6080760"/>
            <a:ext cx="7315200" cy="365760"/>
          </a:xfrm>
          <a:prstGeom prst="rect">
            <a:avLst/>
          </a:prstGeom>
          <a:noFill/>
        </p:spPr>
        <p:txBody>
          <a:bodyPr wrap="none">
            <a:spAutoFit/>
          </a:bodyPr>
          <a:lstStyle/>
          <a:p>
            <a:pPr>
              <a:defRPr sz="1200">
                <a:solidFill>
                  <a:srgbClr val="5F6976"/>
                </a:solidFill>
                <a:latin typeface="Aptos"/>
              </a:defRPr>
            </a:pPr>
            <a:r>
              <a:t>Department of AI&amp;DS and CSIT  •  A.Y. 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94360"/>
          </a:xfrm>
          <a:prstGeom prst="rect">
            <a:avLst/>
          </a:prstGeom>
          <a:noFill/>
        </p:spPr>
        <p:txBody>
          <a:bodyPr wrap="none">
            <a:spAutoFit/>
          </a:bodyPr>
          <a:lstStyle/>
          <a:p>
            <a:r>
              <a:rPr sz="2800" b="1">
                <a:solidFill>
                  <a:srgbClr val="14233C"/>
                </a:solidFill>
                <a:latin typeface="Aptos Display"/>
              </a:rPr>
              <a:t>Abstract</a:t>
            </a:r>
          </a:p>
        </p:txBody>
      </p:sp>
      <p:sp>
        <p:nvSpPr>
          <p:cNvPr id="4" name="TextBox 3"/>
          <p:cNvSpPr txBox="1"/>
          <p:nvPr/>
        </p:nvSpPr>
        <p:spPr>
          <a:xfrm>
            <a:off x="621792" y="932688"/>
            <a:ext cx="10789920" cy="365760"/>
          </a:xfrm>
          <a:prstGeom prst="rect">
            <a:avLst/>
          </a:prstGeom>
          <a:noFill/>
        </p:spPr>
        <p:txBody>
          <a:bodyPr wrap="none">
            <a:spAutoFit/>
          </a:bodyPr>
          <a:lstStyle/>
          <a:p>
            <a:r>
              <a:rPr sz="1200">
                <a:solidFill>
                  <a:srgbClr val="5F6976"/>
                </a:solidFill>
                <a:latin typeface="Aptos"/>
              </a:rPr>
              <a:t>AI-assisted early risk prediction for Chronic Kidney Disease</a:t>
            </a:r>
          </a:p>
        </p:txBody>
      </p:sp>
      <p:sp>
        <p:nvSpPr>
          <p:cNvPr id="5" name="Rounded Rectangle 4"/>
          <p:cNvSpPr/>
          <p:nvPr/>
        </p:nvSpPr>
        <p:spPr>
          <a:xfrm>
            <a:off x="594360" y="1417320"/>
            <a:ext cx="10972800" cy="4297680"/>
          </a:xfrm>
          <a:prstGeom prst="roundRect">
            <a:avLst/>
          </a:prstGeom>
          <a:solidFill>
            <a:srgbClr val="E7F2FC"/>
          </a:solidFill>
          <a:ln>
            <a:solidFill>
              <a:srgbClr val="CDDE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10332720" cy="3520440"/>
          </a:xfrm>
          <a:prstGeom prst="rect">
            <a:avLst/>
          </a:prstGeom>
          <a:noFill/>
        </p:spPr>
        <p:txBody>
          <a:bodyPr wrap="square">
            <a:spAutoFit/>
          </a:bodyPr>
          <a:lstStyle/>
          <a:p>
            <a:pPr>
              <a:lnSpc>
                <a:spcPct val="120000"/>
              </a:lnSpc>
              <a:defRPr sz="1900">
                <a:solidFill>
                  <a:srgbClr val="232B37"/>
                </a:solidFill>
                <a:latin typeface="Aptos"/>
              </a:defRPr>
            </a:pPr>
            <a:r>
              <a:t>Chronic Kidney Disease (CKD) is a serious condition that requires early detection to prevent severe health complications. This project uses machine learning to predict CKD from patient clinical data. The dataset is preprocessed by handling missing values, encoding categorical features, and performing exploratory data analysis. XGBoost and LightGBM are trained and compared using accuracy, precision, recall, and F1-score. The best-performing model is deployed through a Streamlit web application, allowing users to enter patient details and receive an instant prediction. The proposed system aims to provide an accurate, efficient, and user-friendly solution that supports early diagnosis and informed clinical decision-making.</a:t>
            </a:r>
          </a:p>
        </p:txBody>
      </p:sp>
      <p:sp>
        <p:nvSpPr>
          <p:cNvPr id="7" name="Rounded Rectangle 6"/>
          <p:cNvSpPr/>
          <p:nvPr/>
        </p:nvSpPr>
        <p:spPr>
          <a:xfrm>
            <a:off x="9144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Data Preprocessing</a:t>
            </a:r>
          </a:p>
        </p:txBody>
      </p:sp>
      <p:sp>
        <p:nvSpPr>
          <p:cNvPr id="8" name="Rounded Rectangle 7"/>
          <p:cNvSpPr/>
          <p:nvPr/>
        </p:nvSpPr>
        <p:spPr>
          <a:xfrm>
            <a:off x="34290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XGBoost</a:t>
            </a:r>
          </a:p>
        </p:txBody>
      </p:sp>
      <p:sp>
        <p:nvSpPr>
          <p:cNvPr id="9" name="Rounded Rectangle 8"/>
          <p:cNvSpPr/>
          <p:nvPr/>
        </p:nvSpPr>
        <p:spPr>
          <a:xfrm>
            <a:off x="59436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LightGBM</a:t>
            </a:r>
          </a:p>
        </p:txBody>
      </p:sp>
      <p:sp>
        <p:nvSpPr>
          <p:cNvPr id="10" name="Rounded Rectangle 9"/>
          <p:cNvSpPr/>
          <p:nvPr/>
        </p:nvSpPr>
        <p:spPr>
          <a:xfrm>
            <a:off x="84582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Streamlit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94360"/>
          </a:xfrm>
          <a:prstGeom prst="rect">
            <a:avLst/>
          </a:prstGeom>
          <a:noFill/>
        </p:spPr>
        <p:txBody>
          <a:bodyPr wrap="none">
            <a:spAutoFit/>
          </a:bodyPr>
          <a:lstStyle/>
          <a:p>
            <a:r>
              <a:rPr sz="2800" b="1">
                <a:solidFill>
                  <a:srgbClr val="14233C"/>
                </a:solidFill>
                <a:latin typeface="Aptos Display"/>
              </a:rPr>
              <a:t>Introduction</a:t>
            </a:r>
          </a:p>
        </p:txBody>
      </p:sp>
      <p:sp>
        <p:nvSpPr>
          <p:cNvPr id="4" name="TextBox 3"/>
          <p:cNvSpPr txBox="1"/>
          <p:nvPr/>
        </p:nvSpPr>
        <p:spPr>
          <a:xfrm>
            <a:off x="621792" y="932688"/>
            <a:ext cx="10789920" cy="365760"/>
          </a:xfrm>
          <a:prstGeom prst="rect">
            <a:avLst/>
          </a:prstGeom>
          <a:noFill/>
        </p:spPr>
        <p:txBody>
          <a:bodyPr wrap="none">
            <a:spAutoFit/>
          </a:bodyPr>
          <a:lstStyle/>
          <a:p>
            <a:r>
              <a:rPr sz="1200">
                <a:solidFill>
                  <a:srgbClr val="5F6976"/>
                </a:solidFill>
                <a:latin typeface="Aptos"/>
              </a:rPr>
              <a:t>Why machine learning can help in CKD risk prediction</a:t>
            </a:r>
          </a:p>
        </p:txBody>
      </p:sp>
      <p:sp>
        <p:nvSpPr>
          <p:cNvPr id="5" name="Rounded Rectangle 4"/>
          <p:cNvSpPr/>
          <p:nvPr/>
        </p:nvSpPr>
        <p:spPr>
          <a:xfrm>
            <a:off x="640080" y="1417320"/>
            <a:ext cx="5257800" cy="4480560"/>
          </a:xfrm>
          <a:prstGeom prst="roundRect">
            <a:avLst/>
          </a:prstGeom>
          <a:solidFill>
            <a:srgbClr val="E7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37360"/>
            <a:ext cx="4663440" cy="3840480"/>
          </a:xfrm>
          <a:prstGeom prst="rect">
            <a:avLst/>
          </a:prstGeom>
          <a:noFill/>
        </p:spPr>
        <p:txBody>
          <a:bodyPr wrap="square">
            <a:spAutoFit/>
          </a:bodyPr>
          <a:lstStyle/>
          <a:p>
            <a:pPr>
              <a:spcAft>
                <a:spcPts val="1400"/>
              </a:spcAft>
              <a:defRPr sz="1700">
                <a:solidFill>
                  <a:srgbClr val="232B37"/>
                </a:solidFill>
                <a:latin typeface="Aptos"/>
              </a:defRPr>
            </a:pPr>
            <a:r>
              <a:t>• CKD is a long-term condition in which the kidneys gradually lose their ability to filter waste and excess fluids.</a:t>
            </a:r>
          </a:p>
          <a:p>
            <a:pPr>
              <a:spcAft>
                <a:spcPts val="1400"/>
              </a:spcAft>
              <a:defRPr sz="1700">
                <a:solidFill>
                  <a:srgbClr val="232B37"/>
                </a:solidFill>
                <a:latin typeface="Aptos"/>
              </a:defRPr>
            </a:pPr>
            <a:r>
              <a:t>• Undetected CKD can lead to serious complications, including kidney failure and cardiovascular diseases.</a:t>
            </a:r>
          </a:p>
          <a:p>
            <a:pPr>
              <a:spcAft>
                <a:spcPts val="1400"/>
              </a:spcAft>
              <a:defRPr sz="1700">
                <a:solidFill>
                  <a:srgbClr val="232B37"/>
                </a:solidFill>
                <a:latin typeface="Aptos"/>
              </a:defRPr>
            </a:pPr>
            <a:r>
              <a:t>• Early diagnosis is important for improving treatment outcomes and reducing mortality.</a:t>
            </a:r>
          </a:p>
        </p:txBody>
      </p:sp>
      <p:sp>
        <p:nvSpPr>
          <p:cNvPr id="7" name="Rounded Rectangle 6"/>
          <p:cNvSpPr/>
          <p:nvPr/>
        </p:nvSpPr>
        <p:spPr>
          <a:xfrm>
            <a:off x="6172200" y="1417320"/>
            <a:ext cx="5349240" cy="4480560"/>
          </a:xfrm>
          <a:prstGeom prst="roundRect">
            <a:avLst/>
          </a:prstGeom>
          <a:solidFill>
            <a:srgbClr val="FFFFFF"/>
          </a:solidFill>
          <a:ln>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737360"/>
            <a:ext cx="4663440" cy="3840480"/>
          </a:xfrm>
          <a:prstGeom prst="rect">
            <a:avLst/>
          </a:prstGeom>
          <a:noFill/>
        </p:spPr>
        <p:txBody>
          <a:bodyPr wrap="square">
            <a:spAutoFit/>
          </a:bodyPr>
          <a:lstStyle/>
          <a:p>
            <a:pPr>
              <a:spcAft>
                <a:spcPts val="1100"/>
              </a:spcAft>
              <a:defRPr sz="1600">
                <a:solidFill>
                  <a:srgbClr val="232B37"/>
                </a:solidFill>
                <a:latin typeface="Aptos"/>
              </a:defRPr>
            </a:pPr>
            <a:r>
              <a:t>✓ Clinical attributes used include blood pressure, blood glucose, serum creatinine, hemoglobin, and albumin.</a:t>
            </a:r>
          </a:p>
          <a:p>
            <a:pPr>
              <a:spcAft>
                <a:spcPts val="1100"/>
              </a:spcAft>
              <a:defRPr sz="1600">
                <a:solidFill>
                  <a:srgbClr val="232B37"/>
                </a:solidFill>
                <a:latin typeface="Aptos"/>
              </a:defRPr>
            </a:pPr>
            <a:r>
              <a:t>✓ The workflow covers preprocessing, feature engineering, model training, and performance evaluation.</a:t>
            </a:r>
          </a:p>
          <a:p>
            <a:pPr>
              <a:spcAft>
                <a:spcPts val="1100"/>
              </a:spcAft>
              <a:defRPr sz="1600">
                <a:solidFill>
                  <a:srgbClr val="232B37"/>
                </a:solidFill>
                <a:latin typeface="Aptos"/>
              </a:defRPr>
            </a:pPr>
            <a:r>
              <a:t>✓ XGBoost and LightGBM are compared to identify the most accurate prediction model.</a:t>
            </a:r>
          </a:p>
          <a:p>
            <a:pPr>
              <a:spcAft>
                <a:spcPts val="1100"/>
              </a:spcAft>
              <a:defRPr sz="1600">
                <a:solidFill>
                  <a:srgbClr val="232B37"/>
                </a:solidFill>
                <a:latin typeface="Aptos"/>
              </a:defRPr>
            </a:pPr>
            <a:r>
              <a:t>✓ The final model is presented through a user-friendly interface for quick predictions.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94360"/>
          </a:xfrm>
          <a:prstGeom prst="rect">
            <a:avLst/>
          </a:prstGeom>
          <a:noFill/>
        </p:spPr>
        <p:txBody>
          <a:bodyPr wrap="none">
            <a:spAutoFit/>
          </a:bodyPr>
          <a:lstStyle/>
          <a:p>
            <a:r>
              <a:rPr sz="2800" b="1">
                <a:solidFill>
                  <a:srgbClr val="14233C"/>
                </a:solidFill>
                <a:latin typeface="Aptos Display"/>
              </a:rPr>
              <a:t>Software &amp; Hardware Requirements</a:t>
            </a:r>
          </a:p>
        </p:txBody>
      </p:sp>
      <p:sp>
        <p:nvSpPr>
          <p:cNvPr id="4" name="TextBox 3"/>
          <p:cNvSpPr txBox="1"/>
          <p:nvPr/>
        </p:nvSpPr>
        <p:spPr>
          <a:xfrm>
            <a:off x="621792" y="932688"/>
            <a:ext cx="10789920" cy="365760"/>
          </a:xfrm>
          <a:prstGeom prst="rect">
            <a:avLst/>
          </a:prstGeom>
          <a:noFill/>
        </p:spPr>
        <p:txBody>
          <a:bodyPr wrap="none">
            <a:spAutoFit/>
          </a:bodyPr>
          <a:lstStyle/>
          <a:p>
            <a:r>
              <a:rPr sz="1200">
                <a:solidFill>
                  <a:srgbClr val="5F6976"/>
                </a:solidFill>
                <a:latin typeface="Aptos"/>
              </a:rPr>
              <a:t>Requirements for developing and running the CKD prediction system</a:t>
            </a:r>
          </a:p>
        </p:txBody>
      </p:sp>
      <p:sp>
        <p:nvSpPr>
          <p:cNvPr id="5" name="Rounded Rectangle 4"/>
          <p:cNvSpPr/>
          <p:nvPr/>
        </p:nvSpPr>
        <p:spPr>
          <a:xfrm>
            <a:off x="594360" y="1325880"/>
            <a:ext cx="5349240" cy="4983480"/>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536192"/>
            <a:ext cx="4983480" cy="566928"/>
          </a:xfrm>
          <a:prstGeom prst="round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Aptos"/>
              </a:defRPr>
            </a:pPr>
            <a:r>
              <a:t>Software Requirements</a:t>
            </a:r>
          </a:p>
        </p:txBody>
      </p:sp>
      <p:sp>
        <p:nvSpPr>
          <p:cNvPr id="7" name="Rounded Rectangle 6"/>
          <p:cNvSpPr/>
          <p:nvPr/>
        </p:nvSpPr>
        <p:spPr>
          <a:xfrm>
            <a:off x="6263640" y="1325880"/>
            <a:ext cx="5349240" cy="4983480"/>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46520" y="1536192"/>
            <a:ext cx="4983480" cy="566928"/>
          </a:xfrm>
          <a:prstGeom prst="roundRect">
            <a:avLst/>
          </a:prstGeom>
          <a:solidFill>
            <a:srgbClr val="2D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Aptos"/>
              </a:defRPr>
            </a:pPr>
            <a:r>
              <a:t>Hardware Requirements</a:t>
            </a:r>
          </a:p>
        </p:txBody>
      </p:sp>
      <p:sp>
        <p:nvSpPr>
          <p:cNvPr id="9" name="TextBox 8"/>
          <p:cNvSpPr txBox="1"/>
          <p:nvPr/>
        </p:nvSpPr>
        <p:spPr>
          <a:xfrm>
            <a:off x="868680" y="2286000"/>
            <a:ext cx="4572000" cy="3657600"/>
          </a:xfrm>
          <a:prstGeom prst="rect">
            <a:avLst/>
          </a:prstGeom>
          <a:noFill/>
        </p:spPr>
        <p:txBody>
          <a:bodyPr wrap="square">
            <a:spAutoFit/>
          </a:bodyPr>
          <a:lstStyle/>
          <a:p>
            <a:pPr>
              <a:spcAft>
                <a:spcPts val="1000"/>
              </a:spcAft>
              <a:defRPr sz="1300">
                <a:solidFill>
                  <a:srgbClr val="232B37"/>
                </a:solidFill>
                <a:latin typeface="Aptos"/>
              </a:defRPr>
            </a:pPr>
            <a:r>
              <a:t>• OS: Windows 10/11, Linux, or macOS</a:t>
            </a:r>
          </a:p>
          <a:p>
            <a:pPr>
              <a:spcAft>
                <a:spcPts val="1000"/>
              </a:spcAft>
              <a:defRPr sz="1300">
                <a:solidFill>
                  <a:srgbClr val="232B37"/>
                </a:solidFill>
                <a:latin typeface="Aptos"/>
              </a:defRPr>
            </a:pPr>
            <a:r>
              <a:t>• Python 3.10 or above</a:t>
            </a:r>
          </a:p>
          <a:p>
            <a:pPr>
              <a:spcAft>
                <a:spcPts val="1000"/>
              </a:spcAft>
              <a:defRPr sz="1300">
                <a:solidFill>
                  <a:srgbClr val="232B37"/>
                </a:solidFill>
                <a:latin typeface="Aptos"/>
              </a:defRPr>
            </a:pPr>
            <a:r>
              <a:t>• Jupyter Notebook / Google Colab / VS Code</a:t>
            </a:r>
          </a:p>
          <a:p>
            <a:pPr>
              <a:spcAft>
                <a:spcPts val="1000"/>
              </a:spcAft>
              <a:defRPr sz="1300">
                <a:solidFill>
                  <a:srgbClr val="232B37"/>
                </a:solidFill>
                <a:latin typeface="Aptos"/>
              </a:defRPr>
            </a:pPr>
            <a:r>
              <a:t>• Pandas, NumPy, Scikit-learn</a:t>
            </a:r>
          </a:p>
          <a:p>
            <a:pPr>
              <a:spcAft>
                <a:spcPts val="1000"/>
              </a:spcAft>
              <a:defRPr sz="1300">
                <a:solidFill>
                  <a:srgbClr val="232B37"/>
                </a:solidFill>
                <a:latin typeface="Aptos"/>
              </a:defRPr>
            </a:pPr>
            <a:r>
              <a:t>• XGBoost, LightGBM, Matplotlib, Seaborn</a:t>
            </a:r>
          </a:p>
          <a:p>
            <a:pPr>
              <a:spcAft>
                <a:spcPts val="1000"/>
              </a:spcAft>
              <a:defRPr sz="1300">
                <a:solidFill>
                  <a:srgbClr val="232B37"/>
                </a:solidFill>
                <a:latin typeface="Aptos"/>
              </a:defRPr>
            </a:pPr>
            <a:r>
              <a:t>• SHAP and Joblib</a:t>
            </a:r>
          </a:p>
          <a:p>
            <a:pPr>
              <a:spcAft>
                <a:spcPts val="1000"/>
              </a:spcAft>
              <a:defRPr sz="1300">
                <a:solidFill>
                  <a:srgbClr val="232B37"/>
                </a:solidFill>
                <a:latin typeface="Aptos"/>
              </a:defRPr>
            </a:pPr>
            <a:r>
              <a:t>• Streamlit web framework</a:t>
            </a:r>
          </a:p>
          <a:p>
            <a:pPr>
              <a:spcAft>
                <a:spcPts val="1000"/>
              </a:spcAft>
              <a:defRPr sz="1300">
                <a:solidFill>
                  <a:srgbClr val="232B37"/>
                </a:solidFill>
                <a:latin typeface="Aptos"/>
              </a:defRPr>
            </a:pPr>
            <a:r>
              <a:t>• SQLite / MySQL database</a:t>
            </a:r>
          </a:p>
          <a:p>
            <a:pPr>
              <a:spcAft>
                <a:spcPts val="1000"/>
              </a:spcAft>
              <a:defRPr sz="1300">
                <a:solidFill>
                  <a:srgbClr val="232B37"/>
                </a:solidFill>
                <a:latin typeface="Aptos"/>
              </a:defRPr>
            </a:pPr>
            <a:r>
              <a:t>• Git &amp; GitHub; pip package manager</a:t>
            </a:r>
          </a:p>
          <a:p>
            <a:pPr>
              <a:spcAft>
                <a:spcPts val="1000"/>
              </a:spcAft>
              <a:defRPr sz="1300">
                <a:solidFill>
                  <a:srgbClr val="232B37"/>
                </a:solidFill>
                <a:latin typeface="Aptos"/>
              </a:defRPr>
            </a:pPr>
            <a:r>
              <a:t>• UCI Chronic Kidney Disease Dataset</a:t>
            </a:r>
          </a:p>
          <a:p>
            <a:pPr>
              <a:spcAft>
                <a:spcPts val="1000"/>
              </a:spcAft>
              <a:defRPr sz="1300">
                <a:solidFill>
                  <a:srgbClr val="232B37"/>
                </a:solidFill>
                <a:latin typeface="Aptos"/>
              </a:defRPr>
            </a:pPr>
            <a:r>
              <a:t>• Google Chrome / Microsoft Edge</a:t>
            </a:r>
          </a:p>
        </p:txBody>
      </p:sp>
      <p:sp>
        <p:nvSpPr>
          <p:cNvPr id="10" name="TextBox 9"/>
          <p:cNvSpPr txBox="1"/>
          <p:nvPr/>
        </p:nvSpPr>
        <p:spPr>
          <a:xfrm>
            <a:off x="6537960" y="2286000"/>
            <a:ext cx="4572000" cy="3474720"/>
          </a:xfrm>
          <a:prstGeom prst="rect">
            <a:avLst/>
          </a:prstGeom>
          <a:noFill/>
        </p:spPr>
        <p:txBody>
          <a:bodyPr wrap="square">
            <a:spAutoFit/>
          </a:bodyPr>
          <a:lstStyle/>
          <a:p>
            <a:pPr>
              <a:spcAft>
                <a:spcPts val="1000"/>
              </a:spcAft>
              <a:defRPr sz="1400">
                <a:solidFill>
                  <a:srgbClr val="232B37"/>
                </a:solidFill>
                <a:latin typeface="Aptos"/>
              </a:defRPr>
            </a:pPr>
            <a:r>
              <a:t>• Processor: Intel Core i5 / AMD Ryzen 5 or better</a:t>
            </a:r>
          </a:p>
          <a:p>
            <a:pPr>
              <a:spcAft>
                <a:spcPts val="1000"/>
              </a:spcAft>
              <a:defRPr sz="1400">
                <a:solidFill>
                  <a:srgbClr val="232B37"/>
                </a:solidFill>
                <a:latin typeface="Aptos"/>
              </a:defRPr>
            </a:pPr>
            <a:r>
              <a:t>• RAM: Minimum 8 GB; 16 GB recommended for smoother model training</a:t>
            </a:r>
          </a:p>
          <a:p>
            <a:pPr>
              <a:spcAft>
                <a:spcPts val="1000"/>
              </a:spcAft>
              <a:defRPr sz="1400">
                <a:solidFill>
                  <a:srgbClr val="232B37"/>
                </a:solidFill>
                <a:latin typeface="Aptos"/>
              </a:defRPr>
            </a:pPr>
            <a:r>
              <a:t>• Storage: At least 10 GB free space for Python environment, datasets, and project files</a:t>
            </a:r>
          </a:p>
          <a:p>
            <a:pPr>
              <a:spcAft>
                <a:spcPts val="1000"/>
              </a:spcAft>
              <a:defRPr sz="1400">
                <a:solidFill>
                  <a:srgbClr val="232B37"/>
                </a:solidFill>
                <a:latin typeface="Aptos"/>
              </a:defRPr>
            </a:pPr>
            <a:r>
              <a:t>• Display: 1366×768 or higher</a:t>
            </a:r>
          </a:p>
          <a:p>
            <a:pPr>
              <a:spcAft>
                <a:spcPts val="1000"/>
              </a:spcAft>
              <a:defRPr sz="1400">
                <a:solidFill>
                  <a:srgbClr val="232B37"/>
                </a:solidFill>
                <a:latin typeface="Aptos"/>
              </a:defRPr>
            </a:pPr>
            <a:r>
              <a:t>• Internet: Required for Google Colab, package installation, GitHub, and deployment</a:t>
            </a:r>
          </a:p>
          <a:p>
            <a:pPr>
              <a:spcAft>
                <a:spcPts val="1000"/>
              </a:spcAft>
              <a:defRPr sz="1400">
                <a:solidFill>
                  <a:srgbClr val="232B37"/>
                </a:solidFill>
                <a:latin typeface="Aptos"/>
              </a:defRPr>
            </a:pPr>
            <a:r>
              <a:t>• Optional: Cloud runtime such as Google Colab for larger experiments</a:t>
            </a:r>
          </a:p>
        </p:txBody>
      </p:sp>
      <p:sp>
        <p:nvSpPr>
          <p:cNvPr id="11" name="TextBox 10"/>
          <p:cNvSpPr txBox="1"/>
          <p:nvPr/>
        </p:nvSpPr>
        <p:spPr>
          <a:xfrm>
            <a:off x="6537960" y="5623560"/>
            <a:ext cx="4572000" cy="457200"/>
          </a:xfrm>
          <a:prstGeom prst="rect">
            <a:avLst/>
          </a:prstGeom>
          <a:noFill/>
        </p:spPr>
        <p:txBody>
          <a:bodyPr wrap="none">
            <a:spAutoFit/>
          </a:bodyPr>
          <a:lstStyle/>
          <a:p>
            <a:pPr>
              <a:defRPr sz="1000" i="1">
                <a:solidFill>
                  <a:srgbClr val="5F6976"/>
                </a:solidFill>
                <a:latin typeface="Aptos"/>
              </a:defRPr>
            </a:pPr>
            <a:r>
              <a:t>Hardware values are practical project recommendations.</a:t>
            </a:r>
          </a:p>
        </p:txBody>
      </p:sp>
      <p:pic>
        <p:nvPicPr>
          <p:cNvPr id="12" name="Picture 11" descr="0050e9a0-3f9b-4b3b-a796-8ef8b37b32be.png">
            <a:hlinkClick r:id="rId2"/>
          </p:cNvPr>
          <p:cNvPicPr>
            <a:picLocks noChangeAspect="1"/>
          </p:cNvPicPr>
          <p:nvPr/>
        </p:nvPicPr>
        <p:blipFill>
          <a:blip r:embed="rId3"/>
          <a:stretch>
            <a:fillRect/>
          </a:stretch>
        </p:blipFill>
        <p:spPr>
          <a:xfrm>
            <a:off x="5074920" y="5806440"/>
            <a:ext cx="2057400" cy="594360"/>
          </a:xfrm>
          <a:prstGeom prst="rect">
            <a:avLst/>
          </a:prstGeom>
        </p:spPr>
      </p:pic>
      <p:sp>
        <p:nvSpPr>
          <p:cNvPr id="13" name="Rounded Rectangle 12">
            <a:hlinkClick r:id="rId2"/>
          </p:cNvPr>
          <p:cNvSpPr/>
          <p:nvPr/>
        </p:nvSpPr>
        <p:spPr>
          <a:xfrm>
            <a:off x="4526280" y="5989320"/>
            <a:ext cx="3154680" cy="438912"/>
          </a:xfrm>
          <a:prstGeom prst="roundRect">
            <a:avLst/>
          </a:prstGeom>
          <a:solidFill>
            <a:srgbClr val="2E73BE"/>
          </a:solidFill>
          <a:ln>
            <a:solidFill>
              <a:srgbClr val="2E7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Aptos"/>
              </a:rPr>
              <a:t>Kaggle Dataset – Chronic Kidney Disease</a:t>
            </a:r>
          </a:p>
        </p:txBody>
      </p:sp>
      <p:sp>
        <p:nvSpPr>
          <p:cNvPr id="16" name="TextBox 15">
            <a:extLst>
              <a:ext uri="{FF2B5EF4-FFF2-40B4-BE49-F238E27FC236}">
                <a16:creationId xmlns:a16="http://schemas.microsoft.com/office/drawing/2014/main" id="{8F362D02-BA02-9030-76F4-24AA7CD3A68A}"/>
              </a:ext>
            </a:extLst>
          </p:cNvPr>
          <p:cNvSpPr txBox="1"/>
          <p:nvPr/>
        </p:nvSpPr>
        <p:spPr>
          <a:xfrm>
            <a:off x="4064192" y="6510528"/>
            <a:ext cx="6136256" cy="261610"/>
          </a:xfrm>
          <a:prstGeom prst="rect">
            <a:avLst/>
          </a:prstGeom>
          <a:noFill/>
        </p:spPr>
        <p:txBody>
          <a:bodyPr wrap="square">
            <a:spAutoFit/>
          </a:bodyPr>
          <a:lstStyle/>
          <a:p>
            <a:r>
              <a:rPr lang="en-IN" sz="1100" dirty="0"/>
              <a:t>https://www.kaggle.com/datasets/amanik000/kidney-disease-dataset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82880"/>
            <a:ext cx="11155680" cy="502920"/>
          </a:xfrm>
          <a:prstGeom prst="rect">
            <a:avLst/>
          </a:prstGeom>
          <a:noFill/>
        </p:spPr>
        <p:txBody>
          <a:bodyPr wrap="none">
            <a:spAutoFit/>
          </a:bodyPr>
          <a:lstStyle/>
          <a:p>
            <a:r>
              <a:rPr sz="2800" b="1">
                <a:solidFill>
                  <a:srgbClr val="162B48"/>
                </a:solidFill>
                <a:latin typeface="Aptos Display"/>
              </a:rPr>
              <a:t>Chronic Kidney Disease Dataset</a:t>
            </a:r>
          </a:p>
        </p:txBody>
      </p:sp>
      <p:sp>
        <p:nvSpPr>
          <p:cNvPr id="3" name="TextBox 2"/>
          <p:cNvSpPr txBox="1"/>
          <p:nvPr/>
        </p:nvSpPr>
        <p:spPr>
          <a:xfrm>
            <a:off x="530352" y="713232"/>
            <a:ext cx="10972800" cy="320040"/>
          </a:xfrm>
          <a:prstGeom prst="rect">
            <a:avLst/>
          </a:prstGeom>
          <a:noFill/>
        </p:spPr>
        <p:txBody>
          <a:bodyPr wrap="none">
            <a:spAutoFit/>
          </a:bodyPr>
          <a:lstStyle/>
          <a:p>
            <a:r>
              <a:rPr sz="1300">
                <a:solidFill>
                  <a:srgbClr val="506478"/>
                </a:solidFill>
                <a:latin typeface="Aptos"/>
              </a:rPr>
              <a:t>Kaggle dataset used for model training and analysis</a:t>
            </a:r>
          </a:p>
        </p:txBody>
      </p:sp>
      <p:pic>
        <p:nvPicPr>
          <p:cNvPr id="4" name="Picture 3" descr="57319fb6-06b3-4d29-a24c-47ea24d2663a.png"/>
          <p:cNvPicPr>
            <a:picLocks noChangeAspect="1"/>
          </p:cNvPicPr>
          <p:nvPr/>
        </p:nvPicPr>
        <p:blipFill>
          <a:blip r:embed="rId2"/>
          <a:stretch>
            <a:fillRect/>
          </a:stretch>
        </p:blipFill>
        <p:spPr>
          <a:xfrm>
            <a:off x="2575407" y="1188720"/>
            <a:ext cx="7040880" cy="5230368"/>
          </a:xfrm>
          <a:prstGeom prst="rect">
            <a:avLst/>
          </a:prstGeom>
        </p:spPr>
      </p:pic>
      <p:sp>
        <p:nvSpPr>
          <p:cNvPr id="5" name="TextBox 4"/>
          <p:cNvSpPr txBox="1"/>
          <p:nvPr/>
        </p:nvSpPr>
        <p:spPr>
          <a:xfrm>
            <a:off x="502920" y="6510528"/>
            <a:ext cx="11155680" cy="201168"/>
          </a:xfrm>
          <a:prstGeom prst="rect">
            <a:avLst/>
          </a:prstGeom>
          <a:noFill/>
        </p:spPr>
        <p:txBody>
          <a:bodyPr wrap="none">
            <a:spAutoFit/>
          </a:bodyPr>
          <a:lstStyle/>
          <a:p>
            <a:pPr algn="ctr"/>
            <a:r>
              <a:rPr sz="900">
                <a:solidFill>
                  <a:srgbClr val="5A5A5A"/>
                </a:solidFill>
                <a:latin typeface="Aptos"/>
              </a:rPr>
              <a:t>Source: Kaggle — Chronic Kidney Disease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220</TotalTime>
  <Words>516</Words>
  <Application>Microsoft Office PowerPoint</Application>
  <PresentationFormat>Widescreen</PresentationFormat>
  <Paragraphs>48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sohanjadala@outlook.com</cp:lastModifiedBy>
  <cp:revision>2</cp:revision>
  <dcterms:created xsi:type="dcterms:W3CDTF">2013-01-27T09:14:16Z</dcterms:created>
  <dcterms:modified xsi:type="dcterms:W3CDTF">2026-09-11T10:17:45Z</dcterms:modified>
  <cp:category/>
</cp:coreProperties>
</file>